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39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FB5A6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0058400" y="3474720"/>
            <a:ext cx="5029200" cy="50292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583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VACAYCRM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CRM built for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businesses.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enquiry — from WhatsApp, Meta, Google Forms, calls and your website — into a booking. One triaged pipeline. Intelligent routing. AI that works the funnel while your agents close.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68680" y="5532120"/>
            <a:ext cx="4480560" cy="56692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868680" y="553212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for tour operators, DMCs &amp; travel agencies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leads arrive everywhere — and slip through the cracks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2296" cy="18745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658368" cy="658368"/>
          </a:xfrm>
          <a:prstGeom prst="ellipse">
            <a:avLst/>
          </a:prstGeom>
          <a:solidFill>
            <a:srgbClr val="FDEFD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591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671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across channels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66090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here, Instagram DMs there, Google Forms, missed calls and website chat. No single place to see every enquiry.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6355080" y="1874520"/>
            <a:ext cx="82296" cy="18745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6675120" y="2194560"/>
            <a:ext cx="658368" cy="658368"/>
          </a:xfrm>
          <a:prstGeom prst="ellipse">
            <a:avLst/>
          </a:prstGeom>
          <a:solidFill>
            <a:srgbClr val="FDEFD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3591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1671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first response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89520" y="266090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agent to reply usually wins the booking. Manual triage means hours lost — and travellers book with whoever answers first.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82296" cy="18745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4"/>
          <p:cNvSpPr/>
          <p:nvPr/>
        </p:nvSpPr>
        <p:spPr>
          <a:xfrm>
            <a:off x="868680" y="4389120"/>
            <a:ext cx="658368" cy="658368"/>
          </a:xfrm>
          <a:prstGeom prst="ellipse">
            <a:avLst/>
          </a:prstGeom>
          <a:solidFill>
            <a:srgbClr val="FDEFD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55371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3616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 fall through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83080" y="48554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dedup, no owner, no follow-up. Repeat enquiries create duplicate records and hot leads go cold in a shared inbox.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55080" y="406908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18"/>
          <p:cNvSpPr/>
          <p:nvPr/>
        </p:nvSpPr>
        <p:spPr>
          <a:xfrm>
            <a:off x="6355080" y="4069080"/>
            <a:ext cx="82296" cy="18745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6675120" y="4389120"/>
            <a:ext cx="658368" cy="658368"/>
          </a:xfrm>
          <a:prstGeom prst="ellipse">
            <a:avLst/>
          </a:prstGeom>
          <a:solidFill>
            <a:srgbClr val="FDEFD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455371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3616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pipeline visibility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89520" y="48554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can't show stage, source, agent load or why a deal was lost. You're flying blind on conversion.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FB5A6">
              <a:alpha val="14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 LEAKY FUNNEL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unanswered enquiry is a holiday someone booked elsewhere.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514600" cy="2468880"/>
          </a:xfrm>
          <a:prstGeom prst="rect">
            <a:avLst/>
          </a:prstGeom>
          <a:solidFill>
            <a:srgbClr val="061A2E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2514600" cy="10058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1024128" y="434340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choose the vendor that responds first¹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743200"/>
            <a:ext cx="2514600" cy="2468880"/>
          </a:xfrm>
          <a:prstGeom prst="rect">
            <a:avLst/>
          </a:prstGeom>
          <a:solidFill>
            <a:srgbClr val="061A2E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2514600" cy="10058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858768" y="434340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odds of qualifying a lead after the first hour²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743200"/>
            <a:ext cx="2514600" cy="2468880"/>
          </a:xfrm>
          <a:prstGeom prst="rect">
            <a:avLst/>
          </a:prstGeom>
          <a:solidFill>
            <a:srgbClr val="061A2E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492240" y="2743200"/>
            <a:ext cx="2514600" cy="1005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6693408" y="434340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 modern travel business must watch at once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743200"/>
            <a:ext cx="2514600" cy="2468880"/>
          </a:xfrm>
          <a:prstGeom prst="rect">
            <a:avLst/>
          </a:prstGeom>
          <a:solidFill>
            <a:srgbClr val="061A2E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9326880" y="2743200"/>
            <a:ext cx="2514600" cy="10058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326880" y="32004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9528048" y="434340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lost — the target VacayCRM is built to hit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Lead-response research, InsideSales/Harvard Business Review.   ² Time-to-lead studies, industry benchmarks.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channel. One booking pipeline.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 unifies every inbound enquiry into a single triaged pipeline, then routes it to the right agent automatically — with AI handling the busywork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467612" y="3081528"/>
            <a:ext cx="768096" cy="768096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32461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9593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3251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channels normalized to one intake shape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374446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27889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8"/>
          <p:cNvSpPr/>
          <p:nvPr/>
        </p:nvSpPr>
        <p:spPr>
          <a:xfrm>
            <a:off x="4329684" y="3081528"/>
            <a:ext cx="768096" cy="768096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276" y="324612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10712" y="39593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593592" y="43251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screen · dedupe · department &amp; tour match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374446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72784" y="27889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2"/>
          <p:cNvSpPr/>
          <p:nvPr/>
        </p:nvSpPr>
        <p:spPr>
          <a:xfrm>
            <a:off x="7191756" y="3081528"/>
            <a:ext cx="768096" cy="768096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3246120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72784" y="39593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6455664" y="43251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agent, instantly, by your strategy</a:t>
            </a:r>
            <a:endParaRPr lang="en-US" sz="11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374446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34856" y="27889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6"/>
          <p:cNvSpPr/>
          <p:nvPr/>
        </p:nvSpPr>
        <p:spPr>
          <a:xfrm>
            <a:off x="10053828" y="3081528"/>
            <a:ext cx="768096" cy="768096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8420" y="3246120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34856" y="39593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9317736" y="43251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follow-ups &amp; 360° customer view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F7"/>
          </a:solidFill>
          <a:ln w="12700">
            <a:solidFill>
              <a:srgbClr val="0F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550408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&amp; already built. </a:t>
            </a:r>
            <a:r>
              <a:rPr lang="en-US" sz="13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proven platform you deploy and brand — not a project you wait months to see.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UNIFIED INBOX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conversation in one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Facebook, Instagram, email, SMS, Telegram and website chat — all in a single inbox with read &amp; delivery tracking, canned responses, file sharing and broadcasts.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815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175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customer, across every channel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3989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6758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Bot, agent &amp; customer message types with delivery status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9826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3425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 agent → senior agent → admin, with reason capture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5663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9926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responses, uploads &amp; one-to-many broadcasts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7406640" y="1600200"/>
            <a:ext cx="4251960" cy="448056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8"/>
          <p:cNvSpPr/>
          <p:nvPr/>
        </p:nvSpPr>
        <p:spPr>
          <a:xfrm>
            <a:off x="7726680" y="18928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UNIFIED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726680" y="242316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65176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48472" y="2423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9710928" y="242316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2651760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332720" y="2423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7726680" y="3300984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529584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348472" y="330098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9710928" y="3300984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3529584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332720" y="330098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7726680" y="417880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407408"/>
            <a:ext cx="329184" cy="32918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348472" y="417880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50" dirty="0"/>
          </a:p>
        </p:txBody>
      </p:sp>
      <p:sp>
        <p:nvSpPr>
          <p:cNvPr id="30" name="Shape 19"/>
          <p:cNvSpPr/>
          <p:nvPr/>
        </p:nvSpPr>
        <p:spPr>
          <a:xfrm>
            <a:off x="9710928" y="417880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3808" y="4407408"/>
            <a:ext cx="329184" cy="32918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332720" y="417880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</p:txBody>
      </p:sp>
      <p:sp>
        <p:nvSpPr>
          <p:cNvPr id="33" name="Shape 21"/>
          <p:cNvSpPr/>
          <p:nvPr/>
        </p:nvSpPr>
        <p:spPr>
          <a:xfrm>
            <a:off x="7726680" y="5056632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0" y="5285232"/>
            <a:ext cx="329184" cy="32918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348472" y="50566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</a:t>
            </a:r>
            <a:endParaRPr lang="en-US" sz="1250" dirty="0"/>
          </a:p>
        </p:txBody>
      </p:sp>
      <p:sp>
        <p:nvSpPr>
          <p:cNvPr id="36" name="Shape 23"/>
          <p:cNvSpPr/>
          <p:nvPr/>
        </p:nvSpPr>
        <p:spPr>
          <a:xfrm>
            <a:off x="9710928" y="5056632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3808" y="5285232"/>
            <a:ext cx="329184" cy="329184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0332720" y="50566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50" dirty="0"/>
          </a:p>
        </p:txBody>
      </p:sp>
      <p:sp>
        <p:nvSpPr>
          <p:cNvPr id="39" name="Text 25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40" name="Text 26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INTAKE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7-stage pipeline that triages every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an enquiry lands, VacayCRM runs it through an automated pipeline — so agents only ever touch clean, deduplicated, correctly-routed leads.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screen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108" y="3118104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488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21488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21488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2219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normalize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3118104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7490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2"/>
          <p:cNvSpPr/>
          <p:nvPr/>
        </p:nvSpPr>
        <p:spPr>
          <a:xfrm>
            <a:off x="37490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3"/>
          <p:cNvSpPr/>
          <p:nvPr/>
        </p:nvSpPr>
        <p:spPr>
          <a:xfrm>
            <a:off x="37490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8221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1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08" y="3118104"/>
            <a:ext cx="164592" cy="164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492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6"/>
          <p:cNvSpPr/>
          <p:nvPr/>
        </p:nvSpPr>
        <p:spPr>
          <a:xfrm>
            <a:off x="53492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7"/>
          <p:cNvSpPr/>
          <p:nvPr/>
        </p:nvSpPr>
        <p:spPr>
          <a:xfrm>
            <a:off x="53492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54223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route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3118104"/>
            <a:ext cx="164592" cy="16459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9494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0"/>
          <p:cNvSpPr/>
          <p:nvPr/>
        </p:nvSpPr>
        <p:spPr>
          <a:xfrm>
            <a:off x="69494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1"/>
          <p:cNvSpPr/>
          <p:nvPr/>
        </p:nvSpPr>
        <p:spPr>
          <a:xfrm>
            <a:off x="69494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0225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match</a:t>
            </a:r>
            <a:endParaRPr lang="en-US" sz="11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8" y="3118104"/>
            <a:ext cx="164592" cy="16459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5496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4"/>
          <p:cNvSpPr/>
          <p:nvPr/>
        </p:nvSpPr>
        <p:spPr>
          <a:xfrm>
            <a:off x="85496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5"/>
          <p:cNvSpPr/>
          <p:nvPr/>
        </p:nvSpPr>
        <p:spPr>
          <a:xfrm>
            <a:off x="85496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86227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record</a:t>
            </a:r>
            <a:endParaRPr lang="en-US" sz="11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08" y="3118104"/>
            <a:ext cx="164592" cy="164592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149840" y="251460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28"/>
          <p:cNvSpPr/>
          <p:nvPr/>
        </p:nvSpPr>
        <p:spPr>
          <a:xfrm>
            <a:off x="10149840" y="2514600"/>
            <a:ext cx="1481328" cy="82296"/>
          </a:xfrm>
          <a:prstGeom prst="rect">
            <a:avLst/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29"/>
          <p:cNvSpPr/>
          <p:nvPr/>
        </p:nvSpPr>
        <p:spPr>
          <a:xfrm>
            <a:off x="10149840" y="2715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10222992" y="326440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548640" y="4343400"/>
            <a:ext cx="3611880" cy="160020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36008"/>
            <a:ext cx="457200" cy="4572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22960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spam classification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822960" y="55138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thresholds + rule-based blacklists keep junk out of your pipeline.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4361688" y="4343400"/>
            <a:ext cx="3611880" cy="160020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636008"/>
            <a:ext cx="457200" cy="4572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636008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field-mapping</a:t>
            </a:r>
            <a:endParaRPr lang="en-US" sz="1500" dirty="0"/>
          </a:p>
        </p:txBody>
      </p:sp>
      <p:sp>
        <p:nvSpPr>
          <p:cNvPr id="46" name="Text 36"/>
          <p:cNvSpPr/>
          <p:nvPr/>
        </p:nvSpPr>
        <p:spPr>
          <a:xfrm>
            <a:off x="4636008" y="55138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form fields are detected and proposed to admins automatically.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8174736" y="4343400"/>
            <a:ext cx="3611880" cy="160020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636008"/>
            <a:ext cx="457200" cy="4572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449056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data leakage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8449056" y="55138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isolation enforced at the query layer — tested at every join.</a:t>
            </a:r>
            <a:endParaRPr lang="en-US" sz="1150" dirty="0"/>
          </a:p>
        </p:txBody>
      </p:sp>
      <p:sp>
        <p:nvSpPr>
          <p:cNvPr id="51" name="Text 40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TOURS &amp; BOOKINGS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tour catalog that manages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7510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 SKUs with real inventory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14884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capacity, start/end dates, department ownership and tag-based metadata.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926080"/>
            <a:ext cx="603504" cy="603504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7238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sold-out &amp; reopen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32461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to SOLD_OUT when confirmed bookings hit capacity — reopens on cancellation.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4023360"/>
            <a:ext cx="603504" cy="603504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6966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tour matching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34340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free-text enquiries to real tours, with anti-hallucination guards (confidence ≥ 0.8 + catalog check).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6928" y="5120640"/>
            <a:ext cx="603504" cy="603504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26694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waitlist flow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544068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Sold-out enquiry? It drafts a contextual reply and tags the lead high-priority.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60920" y="1783080"/>
            <a:ext cx="4297680" cy="416052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5"/>
          <p:cNvSpPr/>
          <p:nvPr/>
        </p:nvSpPr>
        <p:spPr>
          <a:xfrm>
            <a:off x="76809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CATALOG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635240" y="2606040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7"/>
          <p:cNvSpPr/>
          <p:nvPr/>
        </p:nvSpPr>
        <p:spPr>
          <a:xfrm>
            <a:off x="7818120" y="2697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Backwaters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18120" y="2990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KER-BACKW-5D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10241280" y="282549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0"/>
          <p:cNvSpPr/>
          <p:nvPr/>
        </p:nvSpPr>
        <p:spPr>
          <a:xfrm>
            <a:off x="10241280" y="282549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635240" y="3447288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2"/>
          <p:cNvSpPr/>
          <p:nvPr/>
        </p:nvSpPr>
        <p:spPr>
          <a:xfrm>
            <a:off x="7818120" y="3538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Leh–Ladakh Expedition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818120" y="38313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LEH-LADAKH-7D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0241280" y="3666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4573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5"/>
          <p:cNvSpPr/>
          <p:nvPr/>
        </p:nvSpPr>
        <p:spPr>
          <a:xfrm>
            <a:off x="10241280" y="36667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635240" y="4288536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7"/>
          <p:cNvSpPr/>
          <p:nvPr/>
        </p:nvSpPr>
        <p:spPr>
          <a:xfrm>
            <a:off x="7818120" y="4379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Beach Escape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818120" y="4672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GOA-BEACH-4D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10241280" y="45079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0"/>
          <p:cNvSpPr/>
          <p:nvPr/>
        </p:nvSpPr>
        <p:spPr>
          <a:xfrm>
            <a:off x="10241280" y="45079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635240" y="5129784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2"/>
          <p:cNvSpPr/>
          <p:nvPr/>
        </p:nvSpPr>
        <p:spPr>
          <a:xfrm>
            <a:off x="7818120" y="52212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Heritage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818120" y="5513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RAJ-HERITAGE-6D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10241280" y="53492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5"/>
          <p:cNvSpPr/>
          <p:nvPr/>
        </p:nvSpPr>
        <p:spPr>
          <a:xfrm>
            <a:off x="10241280" y="5349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ASSIGNMENT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to route the right lead to the right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per business, with a built-in fallback ladder that escalates to admins — so no lead is ever left unassigned.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7340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45920" y="25968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Round-Robin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41248" y="331012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Race-safe rotation via Postgres advisory-lock cursor.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2860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4544568" y="2578608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73405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1344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367528" y="25968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Load-Balanced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62856" y="331012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open leads, least-recent-assignment tiebreaker.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91856" y="22860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4"/>
          <p:cNvSpPr/>
          <p:nvPr/>
        </p:nvSpPr>
        <p:spPr>
          <a:xfrm>
            <a:off x="8266176" y="2578608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73405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35056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9089136" y="25968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Skill-Based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284464" y="331012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tag matching, with graceful fallback.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2976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822960" y="4590288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7457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918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1645920" y="46085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AI-Tiered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841248" y="53218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Lead-score cutoffs route to senior/junior tiers with cascade.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270248" y="42976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4"/>
          <p:cNvSpPr/>
          <p:nvPr/>
        </p:nvSpPr>
        <p:spPr>
          <a:xfrm>
            <a:off x="4544568" y="4590288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7457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13448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5367528" y="46085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Pools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4562856" y="53218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Priority-ordered pools matched by source or department.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991856" y="4297680"/>
            <a:ext cx="3429000" cy="1737360"/>
          </a:xfrm>
          <a:prstGeom prst="rect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4608576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60536" y="46085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6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ladder</a:t>
            </a:r>
            <a:endParaRPr lang="en-US" sz="1650" dirty="0"/>
          </a:p>
        </p:txBody>
      </p:sp>
      <p:sp>
        <p:nvSpPr>
          <p:cNvPr id="38" name="Text 30"/>
          <p:cNvSpPr/>
          <p:nvPr/>
        </p:nvSpPr>
        <p:spPr>
          <a:xfrm>
            <a:off x="8284464" y="52578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eligible agent? It escalates to company admins with notifications — automatically.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0FB5A6">
              <a:alpha val="16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works your funnel — with your choice of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pluggable provider layer means you're never locked in. Bring Anthropic Claude, OpenAI, or Google Gemini — selected and key-managed per business.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051560" y="2953512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906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69748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classification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07992" y="2697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4736592" y="2953512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90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69748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Field-map proposals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93024" y="2697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8421624" y="2953512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30906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269748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22960" y="4005072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4"/>
          <p:cNvSpPr/>
          <p:nvPr/>
        </p:nvSpPr>
        <p:spPr>
          <a:xfrm>
            <a:off x="1051560" y="4261104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3982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4005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resolution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507992" y="4005072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17"/>
          <p:cNvSpPr/>
          <p:nvPr/>
        </p:nvSpPr>
        <p:spPr>
          <a:xfrm>
            <a:off x="4736592" y="4261104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439826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68112" y="4005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matching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193024" y="4005072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61A2E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0"/>
          <p:cNvSpPr/>
          <p:nvPr/>
        </p:nvSpPr>
        <p:spPr>
          <a:xfrm>
            <a:off x="8421624" y="4261104"/>
            <a:ext cx="548640" cy="548640"/>
          </a:xfrm>
          <a:prstGeom prst="ellipse">
            <a:avLst/>
          </a:prstGeom>
          <a:solidFill>
            <a:srgbClr val="0F345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398264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53144" y="4005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drafting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22960" y="5532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651760" y="5504688"/>
            <a:ext cx="1929384" cy="411480"/>
          </a:xfrm>
          <a:prstGeom prst="roundRect">
            <a:avLst>
              <a:gd name="adj" fmla="val 48889"/>
            </a:avLst>
          </a:prstGeom>
          <a:solidFill>
            <a:srgbClr val="0F3450"/>
          </a:solidFill>
          <a:ln w="12700">
            <a:solidFill>
              <a:srgbClr val="0F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4"/>
          <p:cNvSpPr/>
          <p:nvPr/>
        </p:nvSpPr>
        <p:spPr>
          <a:xfrm>
            <a:off x="2651760" y="550468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855464" y="5504688"/>
            <a:ext cx="923544" cy="411480"/>
          </a:xfrm>
          <a:prstGeom prst="roundRect">
            <a:avLst>
              <a:gd name="adj" fmla="val 48889"/>
            </a:avLst>
          </a:prstGeom>
          <a:solidFill>
            <a:srgbClr val="0F3450"/>
          </a:solidFill>
          <a:ln w="12700">
            <a:solidFill>
              <a:srgbClr val="0F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6"/>
          <p:cNvSpPr/>
          <p:nvPr/>
        </p:nvSpPr>
        <p:spPr>
          <a:xfrm>
            <a:off x="4855464" y="5504688"/>
            <a:ext cx="923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053328" y="5504688"/>
            <a:ext cx="1627632" cy="411480"/>
          </a:xfrm>
          <a:prstGeom prst="roundRect">
            <a:avLst>
              <a:gd name="adj" fmla="val 48889"/>
            </a:avLst>
          </a:prstGeom>
          <a:solidFill>
            <a:srgbClr val="0F3450"/>
          </a:solidFill>
          <a:ln w="12700">
            <a:solidFill>
              <a:srgbClr val="0F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28"/>
          <p:cNvSpPr/>
          <p:nvPr/>
        </p:nvSpPr>
        <p:spPr>
          <a:xfrm>
            <a:off x="6053328" y="550468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under the hood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841248" y="2130552"/>
            <a:ext cx="658368" cy="658368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951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multi-tenant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532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auto tenant-scoped at the ORM layer. One deployment, isolated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6647688" y="2130552"/>
            <a:ext cx="658368" cy="658368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29514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075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design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3800" y="2532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writes, encrypted API keys, secrets never returned or logged, HTTPS + CSP/HSTS.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257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841248" y="4005072"/>
            <a:ext cx="658368" cy="658368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696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950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4407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Company Admin · Dept Manager · Agent · Viewer, each scoped correctly.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657600"/>
            <a:ext cx="5257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6647688" y="4005072"/>
            <a:ext cx="658368" cy="658368"/>
          </a:xfrm>
          <a:prstGeom prst="ellipse">
            <a:avLst/>
          </a:prstGeom>
          <a:solidFill>
            <a:srgbClr val="E7FBF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1696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950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Webhook-first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3800" y="4407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 = configuration, not code. Idempotent ingestion, no duplicate leads.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1109960" cy="8229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19"/>
          <p:cNvSpPr/>
          <p:nvPr/>
        </p:nvSpPr>
        <p:spPr>
          <a:xfrm>
            <a:off x="777240" y="53492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828800" y="53492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PostgreSQL 16 + Prisma · Redis · Docker · 100+ integration tests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YOU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kickoff to go-live in 3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939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setup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930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4198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structure, departments &amp; roles mapped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133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provisioned, database initialized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1947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846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branding applied · tour catalog imported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361688" y="187452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0"/>
          <p:cNvSpPr/>
          <p:nvPr/>
        </p:nvSpPr>
        <p:spPr>
          <a:xfrm>
            <a:off x="4361688" y="1874520"/>
            <a:ext cx="361188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093976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84648" y="18745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654296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&amp; AI</a:t>
            </a:r>
            <a:endParaRPr lang="en-US" sz="18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49300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47488" y="34198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WhatsApp &amp; Google Forms live in staging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20624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047488" y="4133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configured, scoring &amp; spam tuned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919472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47488" y="4846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strategy installed · E2E test passing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8174736" y="187452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17"/>
          <p:cNvSpPr/>
          <p:nvPr/>
        </p:nvSpPr>
        <p:spPr>
          <a:xfrm>
            <a:off x="8174736" y="1874520"/>
            <a:ext cx="361188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093976"/>
            <a:ext cx="347472" cy="34747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997696" y="18745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8467344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UAT, training &amp; go-live</a:t>
            </a:r>
            <a:endParaRPr lang="en-US" sz="18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3493008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860536" y="34198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 with your team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4206240"/>
            <a:ext cx="256032" cy="25603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860536" y="4133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agent training (recorded)</a:t>
            </a:r>
            <a:endParaRPr lang="en-US" sz="12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4919472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860536" y="4846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+ 1 week priority hypercare</a:t>
            </a:r>
            <a:endParaRPr lang="en-US" sz="1200" dirty="0"/>
          </a:p>
        </p:txBody>
      </p:sp>
      <p:sp>
        <p:nvSpPr>
          <p:cNvPr id="37" name="Text 23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38" name="Text 24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fixed price. Fully deployed &amp; branded.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4160520"/>
          </a:xfrm>
          <a:prstGeom prst="rect">
            <a:avLst/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0A2540">
                <a:alpha val="1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0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ALL-INCLUSIVE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TO DISCUSS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configuration · integrations · training · go-live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demo accepted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49834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+ hypercare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53949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258568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0" y="220370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provisioning — departments, stages, roles, users</a:t>
            </a:r>
            <a:endParaRPr lang="en-US" sz="12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660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943600" y="271119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 integrations — Meta, WhatsApp, Google Forms, webhooks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27355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321868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configured — provider, scoring weights, spam thresholds</a:t>
            </a:r>
            <a:endParaRPr lang="en-US" sz="12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78104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43600" y="372618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of your tour catalog &amp; capacity</a:t>
            </a:r>
            <a:endParaRPr lang="en-US" sz="12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8853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43600" y="423367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strategy installed &amp; tuned to your roster</a:t>
            </a:r>
            <a:endParaRPr lang="en-US" sz="12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7960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43600" y="474116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colours &amp; custom domain with SSL</a:t>
            </a:r>
            <a:endParaRPr lang="en-US" sz="12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30352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943600" y="524865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your host or ours</a:t>
            </a:r>
            <a:endParaRPr lang="en-US" sz="12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811012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943600" y="575614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live training sessions (recorded) + 1 week hypercare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</a:t>
            </a: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vacaycrm.app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FB5A6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-2011680" y="4023360"/>
            <a:ext cx="5486400" cy="54864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VACAYCRM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losing bookings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slow inbox.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your channels, your tours and your team. In three weeks you'll have every enquiry in one pipeline, routed and worked automatically — branded as your own.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5212080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live demo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34840" y="52120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vacaycrm.app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fill your pipeline.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1257</Words>
  <Application>Microsoft Office PowerPoint</Application>
  <PresentationFormat>Widescreen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VacayCRM — The CRM built for travel businesses</dc:title>
  <dc:subject>PptxGenJS Presentation</dc:subject>
  <dc:creator>VacayCRM</dc:creator>
  <cp:lastModifiedBy>Sathyamoorthy Venkatesan</cp:lastModifiedBy>
  <cp:revision>2</cp:revision>
  <dcterms:created xsi:type="dcterms:W3CDTF">2026-08-07T22:42:46Z</dcterms:created>
  <dcterms:modified xsi:type="dcterms:W3CDTF">2026-08-07T22:47:20Z</dcterms:modified>
</cp:coreProperties>
</file>